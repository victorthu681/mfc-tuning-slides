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64748B"/>
              </a:solidFill>
            </c:spPr>
          </c:dPt>
          <c:dPt>
            <c:idx val="1"/>
            <c:invertIfNegative val="0"/>
            <c:spPr>
              <a:solidFill>
                <a:srgbClr val="DC2626"/>
              </a:solidFill>
            </c:spPr>
          </c:dPt>
          <c:dPt>
            <c:idx val="2"/>
            <c:invertIfNegative val="0"/>
            <c:spPr>
              <a:solidFill>
                <a:srgbClr val="DC2626"/>
              </a:solidFill>
            </c:spPr>
          </c:dPt>
          <c:dPt>
            <c:idx val="3"/>
            <c:invertIfNegative val="0"/>
            <c:spPr>
              <a:solidFill>
                <a:srgbClr val="DC2626"/>
              </a:solidFill>
            </c:spPr>
          </c:dPt>
          <c:dPt>
            <c:idx val="4"/>
            <c:invertIfNegative val="0"/>
            <c:spPr>
              <a:solidFill>
                <a:srgbClr val="16A34A"/>
              </a:solidFill>
            </c:spPr>
          </c:dPt>
          <c:dPt>
            <c:idx val="5"/>
            <c:invertIfNegative val="0"/>
            <c:spPr>
              <a:solidFill>
                <a:srgbClr val="16A34A"/>
              </a:solidFill>
            </c:spPr>
          </c:dPt>
          <c:dPt>
            <c:idx val="6"/>
            <c:invertIfNegative val="0"/>
            <c:spPr>
              <a:solidFill>
                <a:srgbClr val="16A34A"/>
              </a:solidFill>
            </c:spPr>
          </c:dPt>
          <c:dPt>
            <c:idx val="7"/>
            <c:invertIfNegative val="0"/>
            <c:spPr>
              <a:solidFill>
                <a:srgbClr val="DC2626"/>
              </a:solidFill>
            </c:spPr>
          </c:dPt>
          <c:cat>
            <c:strRef>
              <c:f>Sheet1!$A$2:$A$9</c:f>
              <c:strCache>
                <c:ptCount val="8"/>
                <c:pt idx="0">
                  <c:v>不设</c:v>
                </c:pt>
                <c:pt idx="1">
                  <c:v>224</c:v>
                </c:pt>
                <c:pt idx="2">
                  <c:v>192</c:v>
                </c:pt>
                <c:pt idx="3">
                  <c:v>176</c:v>
                </c:pt>
                <c:pt idx="4">
                  <c:v>160</c:v>
                </c:pt>
                <c:pt idx="5">
                  <c:v>144</c:v>
                </c:pt>
                <c:pt idx="6">
                  <c:v>128</c:v>
                </c:pt>
                <c:pt idx="7">
                  <c:v>96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0.024</c:v>
                </c:pt>
                <c:pt idx="2">
                  <c:v>0.006</c:v>
                </c:pt>
                <c:pt idx="3">
                  <c:v>0.018</c:v>
                </c:pt>
                <c:pt idx="4">
                  <c:v>-0.061</c:v>
                </c:pt>
                <c:pt idx="5">
                  <c:v>-0.053</c:v>
                </c:pt>
                <c:pt idx="6">
                  <c:v>-0.057</c:v>
                </c:pt>
                <c:pt idx="7">
                  <c:v>0.104</c:v>
                </c:pt>
              </c:numCache>
            </c:numRef>
          </c:val>
        </c:ser>
        <c:dLbls>
          <c:numFmt formatCode="+0.0%;&quot;−&quot;0.0%;&quot;基线&quot;" sourceLinked="0"/>
          <c:txPr>
            <a:bodyPr/>
            <a:lstStyle/>
            <a:p>
              <a:pPr>
                <a:defRPr sz="1400" b="1">
                  <a:solidFill>
                    <a:srgbClr val="1F2937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13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12"/>
          <c:min val="-0.08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%;&quot;−&quot;0%;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-2068027336"/>
        <c:crosses val="autoZero"/>
        <c:majorUnit val="0.04"/>
      </c:valAx>
    </c:plotArea>
    <c:dispBlanksAs val="gap"/>
  </c:chart>
  <c:txPr>
    <a:bodyPr/>
    <a:lstStyle/>
    <a:p>
      <a:pPr>
        <a:defRPr sz="1300" b="0">
          <a:solidFill>
            <a:srgbClr val="1F2937"/>
          </a:solidFill>
          <a:latin typeface="Microsoft YaHei"/>
          <a:ea typeface="Microsoft YaHei"/>
          <a:cs typeface="Microsoft YaHe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64748B"/>
              </a:solidFill>
            </c:spPr>
          </c:dPt>
          <c:dPt>
            <c:idx val="1"/>
            <c:invertIfNegative val="0"/>
            <c:spPr>
              <a:solidFill>
                <a:srgbClr val="16A34A"/>
              </a:solidFill>
            </c:spPr>
          </c:dPt>
          <c:dPt>
            <c:idx val="2"/>
            <c:invertIfNegative val="0"/>
            <c:spPr>
              <a:solidFill>
                <a:srgbClr val="1E3A5F"/>
              </a:solidFill>
            </c:spPr>
          </c:dPt>
          <c:dPt>
            <c:idx val="3"/>
            <c:invertIfNegative val="0"/>
            <c:spPr>
              <a:solidFill>
                <a:srgbClr val="1E3A5F"/>
              </a:solidFill>
            </c:spPr>
          </c:dPt>
          <c:dPt>
            <c:idx val="4"/>
            <c:invertIfNegative val="0"/>
            <c:spPr>
              <a:solidFill>
                <a:srgbClr val="F97316"/>
              </a:solidFill>
            </c:spPr>
          </c:dPt>
          <c:cat>
            <c:strRef>
              <c:f>Sheet1!$A$2:$A$6</c:f>
              <c:strCache>
                <c:ptCount val="5"/>
                <c:pt idx="0">
                  <c:v>单卡</c:v>
                </c:pt>
                <c:pt idx="1">
                  <c:v>单卡 + 上限 160</c:v>
                </c:pt>
                <c:pt idx="2">
                  <c:v>2 卡</c:v>
                </c:pt>
                <c:pt idx="3">
                  <c:v>2 卡 + rdma</c:v>
                </c:pt>
                <c:pt idx="4">
                  <c:v>2 卡 + rdma + 上限 160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1.0645539906103287</c:v>
                </c:pt>
                <c:pt idx="2">
                  <c:v>1.6401446654611211</c:v>
                </c:pt>
                <c:pt idx="3">
                  <c:v>1.849510603588907</c:v>
                </c:pt>
                <c:pt idx="4">
                  <c:v>1.977758395115569</c:v>
                </c:pt>
              </c:numCache>
            </c:numRef>
          </c:val>
        </c:ser>
        <c:dLbls>
          <c:numFmt formatCode="0.00&quot;×&quot;" sourceLinked="0"/>
          <c:txPr>
            <a:bodyPr/>
            <a:lstStyle/>
            <a:p>
              <a:pPr>
                <a:defRPr sz="1400" b="1">
                  <a:solidFill>
                    <a:srgbClr val="1F2937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13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2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.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-2068027336"/>
        <c:crosses val="autoZero"/>
        <c:majorUnit val="0.5"/>
      </c:valAx>
    </c:plotArea>
    <c:dispBlanksAs val="gap"/>
  </c:chart>
  <c:txPr>
    <a:bodyPr/>
    <a:lstStyle/>
    <a:p>
      <a:pPr>
        <a:defRPr sz="1300" b="0">
          <a:solidFill>
            <a:srgbClr val="1F2937"/>
          </a:solidFill>
          <a:latin typeface="Microsoft YaHei"/>
          <a:ea typeface="Microsoft YaHei"/>
          <a:cs typeface="Microsoft YaHe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6583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MFC · 3D_performance_test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7665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能对什么调优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67665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六个层级和实测结果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86200"/>
            <a:ext cx="658368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sc26：2 × H100 NVL · NVHPC 25.9 · </a:t>
            </a:r>
            <a:r>
              <a:rPr sz="1600" b="0">
                <a:solidFill>
                  <a:srgbClr val="CBD5E1"/>
                </a:solidFill>
                <a:latin typeface="Consolas"/>
                <a:ea typeface="Microsoft YaHei"/>
                <a:cs typeface="Microsoft YaHei"/>
              </a:rPr>
              <a:t>--case-optimization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MFC 上游主线 3ef5e1ee · 2026-10-21 实测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6583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SCC26 MFC 组 · 2026 年 10 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417320"/>
            <a:ext cx="4114800" cy="374903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4114800" cy="12801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000" b="1">
                <a:solidFill>
                  <a:srgbClr val="F97316"/>
                </a:solidFill>
                <a:latin typeface="Microsoft YaHei"/>
                <a:ea typeface="Microsoft YaHei"/>
                <a:cs typeface="Microsoft YaHei"/>
              </a:rPr>
              <a:t>1.98×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154680"/>
            <a:ext cx="3749039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2 卡 + </a:t>
            </a:r>
            <a:r>
              <a:rPr sz="1800" b="1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rdma_mpi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+ 寄存器上限 160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4206240"/>
            <a:ext cx="3749039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相对单卡基线 · 输出逐位一致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六层全貌：收益在第三层和第四层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全貌　2 / 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078992"/>
            <a:ext cx="27432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层级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1078992"/>
            <a:ext cx="27432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能调什么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078992"/>
            <a:ext cx="27432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50292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463040"/>
            <a:ext cx="2514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工具链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463040"/>
            <a:ext cx="329184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NVHPC 版本（25.9 / 26.9）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600200"/>
            <a:ext cx="960120" cy="36576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没收益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463040"/>
            <a:ext cx="3749039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26.9 和 25.9 一样快（+0.2%）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121408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2139696"/>
            <a:ext cx="50292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139696"/>
            <a:ext cx="2514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MFC 构建开关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139696"/>
            <a:ext cx="329184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case-optimization、GPU 后端、精度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2276856"/>
            <a:ext cx="960120" cy="3657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有代价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139696"/>
            <a:ext cx="3749039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--single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快 23.5%，但动量误差约 2%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2798063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2816352"/>
            <a:ext cx="50292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16352"/>
            <a:ext cx="2514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编译器选项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2816352"/>
            <a:ext cx="329184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Consolas"/>
                <a:ea typeface="Microsoft YaHei"/>
                <a:cs typeface="Microsoft YaHei"/>
              </a:rPr>
              <a:t>FFLAGS</a:t>
            </a: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：寄存器上限、缓存策略等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2953512"/>
            <a:ext cx="960120" cy="36576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有收益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816352"/>
            <a:ext cx="3749039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寄存器上限 160：快 6.1%，结果不变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3474720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3493008"/>
            <a:ext cx="50292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493008"/>
            <a:ext cx="2514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算例里的性能参数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3493008"/>
            <a:ext cx="329184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Consolas"/>
                <a:ea typeface="Microsoft YaHei"/>
                <a:cs typeface="Microsoft YaHei"/>
              </a:rPr>
              <a:t>rdma_mpi</a:t>
            </a: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、写文件方式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0" y="3630168"/>
            <a:ext cx="960120" cy="36576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有收益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3493008"/>
            <a:ext cx="3749039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rdma_mpi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：2 卡快 12.2%（规则待确认）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4151376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4169664"/>
            <a:ext cx="50292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4169664"/>
            <a:ext cx="2514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启动方式和运行时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169664"/>
            <a:ext cx="329184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rank 数、GPU 分配、绑核、环境变量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49440" y="4306824"/>
            <a:ext cx="960120" cy="36576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没收益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169664"/>
            <a:ext cx="3749039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每卡 1 个 rank；绑核在噪声内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8640" y="4828032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8640" y="4846320"/>
            <a:ext cx="50292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4846320"/>
            <a:ext cx="251460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GPU 系统设置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4846320"/>
            <a:ext cx="3291840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时钟、功耗上限、MPS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49440" y="4983480"/>
            <a:ext cx="960120" cy="36576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改不了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846320"/>
            <a:ext cx="3749039" cy="6400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没有 root；功耗已在 400 W 上限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8640" y="5504688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541264"/>
            <a:ext cx="111556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指标 grindtime：每个格点、每个方程、每次右端项计算的纳秒数，越小越快。单卡基线 0.4535；每项测 3 次取平均，噪声约 1%。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两项收益可以叠加：寄存器上限 160（单卡快 6.1%）+ </a:t>
            </a: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rdma_mpi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（2 卡快 12.2%）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第一层 工具链：NVHPC 26.9 没有更快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第一层　3 / 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能调什么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394960" cy="3840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7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NVHPC 25.9 或 26.9，都是队里自己装的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7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选了版本，CUDA 和 MPI 也就定了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7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GNU、Intel 编不了 GPU 版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7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机器、赛事和 MFC 都没有指定版本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280160"/>
            <a:ext cx="5486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实测（单卡）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1783080"/>
          <a:ext cx="5513832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1280160"/>
                <a:gridCol w="1764792"/>
              </a:tblGrid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grindtime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与基线比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25.9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0.4535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26.9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+0.2%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舍入级差异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17920" y="3703320"/>
            <a:ext cx="548640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WENO kernel 每线程寄存器：26.9 用 200 个，25.9 用 196 个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 30 步动量的最大相对误差 3.4 × 10</a:t>
            </a:r>
            <a:r>
              <a:rPr sz="1400" b="0" baseline="300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−11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继续用 25.9；换版本要重跑 </a:t>
            </a: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./mfc.sh test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（上游记录过 NVHPC 24.5 把 GPU 代码编错）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第二层 构建开关：没有又快又不改结果的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第二层　4 / 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9167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383280"/>
                <a:gridCol w="1143000"/>
                <a:gridCol w="1508760"/>
                <a:gridCol w="2724912"/>
              </a:tblGrid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开关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grindtime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变化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结论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--case-optimization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把算例参数写成常量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−55%（mjx）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一直开着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--gpu mp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OpenMP offload 代替 OpenACC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0.4590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+1.2%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--fastmath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快速数学函数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0.4521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−0.3%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双精度编出的代码不变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--single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全程单精度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0.3470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−23.5%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动量误差约 2%，要问评委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--mixed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存储用半精度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编译失败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--unified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CPU 和 GPU 共用内存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只适用于 GH200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case-optimization 已经开着；唯一的大收益 </a:t>
            </a: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--single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会改变计算结果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第三层 编译器选项：寄存器上限 160 快 6.1%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第三层　5 / 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143000"/>
            <a:ext cx="68580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每个线程的寄存器上限：grindtime 相对基线的变化（负数为更快）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463040"/>
          <a:ext cx="704088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212080"/>
            <a:ext cx="685800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只有 160、144、128 让每个 SM 多驻留一个线程块，所以只有它们变快；上限 64 慢 49.9%（溢出太多）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143000"/>
            <a:ext cx="4050791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其他选项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0" y="1600200"/>
          <a:ext cx="4050792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39112"/>
              </a:tblGrid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选项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loadcache:L1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+1.2%，噪声边缘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loadcache:L2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慢 128%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fastmath</a:t>
                      </a:r>
                      <a:r>
                        <a:rPr sz="14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</a:t>
                      </a: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flushz</a:t>
                      </a:r>
                      <a:r>
                        <a:rPr sz="14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</a:t>
                      </a: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nounroll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编出的代码不变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pinned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pre_process 卡住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-acc=nowait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最多快 1%，可能算错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-O2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要改 CMake，待测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lto</a:t>
                      </a:r>
                      <a:r>
                        <a:rPr sz="14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</a:t>
                      </a:r>
                      <a:r>
                        <a:rPr sz="14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cuda12.9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待测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FFLAGS=-gpu=maxregcount:160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：输出逐位一致；2 卡快 6.5%，另两个官方算例快 6.3% 和 3.4%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第四层 算例参数：rdma_mpi 让 2 卡快 12.2%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第四层　6 / 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94360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25880"/>
                <a:gridCol w="1097280"/>
                <a:gridCol w="1143000"/>
              </a:tblGrid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grindtime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加速比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并行效率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单卡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0.4535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0.2765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1.64×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82%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卡 + </a:t>
                      </a: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rdma_mpi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0.2429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1.87×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93%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49039"/>
            <a:ext cx="594360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grindtime 按全部格点计算，卡数翻倍时理想值减半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325880"/>
            <a:ext cx="4983480" cy="4480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</a:t>
            </a:r>
            <a:r>
              <a:rPr sz="16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做法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：算例文件加一行 </a:t>
            </a: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"rdma_mpi": "T"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</a:t>
            </a:r>
            <a:r>
              <a:rPr sz="16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不用重编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：它不是 case-optimization 写死的参数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</a:t>
            </a:r>
            <a:r>
              <a:rPr sz="16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原理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：两张卡经 NVLink 直接交换边界数据，不经主机中转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</a:t>
            </a:r>
            <a:r>
              <a:rPr sz="16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效果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：每次通信 5.34 ms 降到 0.78 ms（mjx）；输出和单卡逐位一致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</a:t>
            </a:r>
            <a:r>
              <a:rPr sz="16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其他字段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parallel_io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file_per_process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t_step_save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只影响写文件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待确认：比赛是否允许修改算例文件里只影响性能的字段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第五层 启动方式：每卡 1 个 rank，绑 NUMA 0 的核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第五层　7 / 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9167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1645920"/>
                <a:gridCol w="3227832"/>
              </a:tblGrid>
              <a:tr h="54864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写法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grindtime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结论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54864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-n 1 -g 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个 rank 用 1 张卡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0.4535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单卡基线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-n 2 -g 0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每张卡 1 个 rank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0.2765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6A34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多卡用这个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Consolas"/>
                          <a:ea typeface="Microsoft YaHei"/>
                          <a:cs typeface="Microsoft YaHei"/>
                        </a:rPr>
                        <a:t>-n 2 -g 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个 rank 共用 1 张卡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0.8254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比单卡慢 82%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单卡不绑核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rank 不固定在某个 CPU 上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64748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+0.4%，在噪声内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43400"/>
            <a:ext cx="1115568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两张 GPU 都挂在 NUMA 0 上：rank 绑 CPU 1、3（Open MPI 4.1 写作 </a:t>
            </a: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--cpu-list 1,3 --bind-to cpu-list:ordered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）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•  运行时环境变量（</a:t>
            </a: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NV_ACC_*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5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UCX_*</a:t>
            </a: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）没测，预计收益小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每卡只放 1 个 rank；这些写法都不改变输出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第六层 GPU 系统设置：没有 root，只能记录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第六层　8 / 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9167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4690872"/>
              </a:tblGrid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现状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能改吗</a:t>
                      </a:r>
                    </a:p>
                  </a:txBody>
                  <a:tcPr marL="91440" marR="91440" marT="27432" marB="27432" anchor="ctr"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功耗上限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400 W，已是允许的最大值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不能再调高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GPU 时钟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没有锁定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锁频需要 root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持久模式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关闭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C262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需要 root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装了，没有启动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D9770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能启动，但会影响共用账号的其他人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43400"/>
            <a:ext cx="1115568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满载时功耗中位数 397 W（26 次采样里 18 次封顶），SM 时钟中位数 1770 MHz：GPU 基本顶在功耗上限上（mjx 采样）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每次运行前后记录 GPU 的时钟、温度和功耗，用来排查异常结果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47472"/>
            <a:ext cx="82296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950976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叠加起来：2 卡 1.98 倍，输出逐位一致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10896"/>
            <a:ext cx="210312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总结　9 / 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969264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143000"/>
            <a:ext cx="65836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相对单卡基线的加速比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463040"/>
          <a:ext cx="681228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543800" y="1188720"/>
            <a:ext cx="73152" cy="1371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170432"/>
            <a:ext cx="402336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推荐设置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1572768"/>
            <a:ext cx="40233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FFLAGS=-gpu=maxregcount:160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每卡 1 个 rank，绑 NUMA 0 的核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（如果允许）</a:t>
            </a:r>
            <a:r>
              <a:rPr sz="14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rdma_mpi = 'T'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2761488"/>
            <a:ext cx="73152" cy="13716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743200"/>
            <a:ext cx="402336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待测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145536"/>
            <a:ext cx="40233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TGV 迁移验证：等 GPU 驱动恢复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-O3</a:t>
            </a: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换成 </a:t>
            </a:r>
            <a:r>
              <a:rPr sz="14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-O2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在团队基线 fbb3de20 上复测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4334256"/>
            <a:ext cx="73152" cy="13716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4315968"/>
            <a:ext cx="402336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E3A5F"/>
                </a:solidFill>
                <a:latin typeface="Microsoft YaHei"/>
                <a:ea typeface="Microsoft YaHei"/>
                <a:cs typeface="Microsoft YaHei"/>
              </a:rPr>
              <a:t>待讨论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4718304"/>
            <a:ext cx="402336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寄存器上限要不要当默认设置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能不能改算例里的性能字段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--single</a:t>
            </a: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 的精度能不能接受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989320"/>
            <a:ext cx="73152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989320"/>
            <a:ext cx="1101852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采用寄存器上限前，要带着它跑一遍 </a:t>
            </a:r>
            <a:r>
              <a:rPr sz="1600" b="0">
                <a:solidFill>
                  <a:srgbClr val="1F2937"/>
                </a:solidFill>
                <a:latin typeface="Consolas"/>
                <a:ea typeface="Microsoft YaHei"/>
                <a:cs typeface="Microsoft YaHei"/>
              </a:rPr>
              <a:t>./mfc.sh test</a:t>
            </a:r>
            <a:r>
              <a:rPr sz="16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，并在报告里向评委说明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3D_performance_test 能对什么调优：六个层级和实测结果</dc:title>
  <dc:subject/>
  <dc:creator>SCC26 MFC 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