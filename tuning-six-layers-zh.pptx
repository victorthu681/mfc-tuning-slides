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64748B"/>
              </a:solidFill>
            </c:spPr>
          </c:dPt>
          <c:dPt>
            <c:idx val="1"/>
            <c:invertIfNegative val="0"/>
            <c:spPr>
              <a:solidFill>
                <a:srgbClr val="DC2626"/>
              </a:solidFill>
            </c:spPr>
          </c:dPt>
          <c:dPt>
            <c:idx val="2"/>
            <c:invertIfNegative val="0"/>
            <c:spPr>
              <a:solidFill>
                <a:srgbClr val="DC2626"/>
              </a:solidFill>
            </c:spPr>
          </c:dPt>
          <c:dPt>
            <c:idx val="3"/>
            <c:invertIfNegative val="0"/>
            <c:spPr>
              <a:solidFill>
                <a:srgbClr val="DC2626"/>
              </a:solidFill>
            </c:spPr>
          </c:dPt>
          <c:dPt>
            <c:idx val="4"/>
            <c:invertIfNegative val="0"/>
            <c:spPr>
              <a:solidFill>
                <a:srgbClr val="16A34A"/>
              </a:solidFill>
            </c:spPr>
          </c:dPt>
          <c:dPt>
            <c:idx val="5"/>
            <c:invertIfNegative val="0"/>
            <c:spPr>
              <a:solidFill>
                <a:srgbClr val="16A34A"/>
              </a:solidFill>
            </c:spPr>
          </c:dPt>
          <c:dPt>
            <c:idx val="6"/>
            <c:invertIfNegative val="0"/>
            <c:spPr>
              <a:solidFill>
                <a:srgbClr val="16A34A"/>
              </a:solidFill>
            </c:spPr>
          </c:dPt>
          <c:dPt>
            <c:idx val="7"/>
            <c:invertIfNegative val="0"/>
            <c:spPr>
              <a:solidFill>
                <a:srgbClr val="DC2626"/>
              </a:solidFill>
            </c:spPr>
          </c:dPt>
          <c:cat>
            <c:strRef>
              <c:f>Sheet1!$A$2:$A$9</c:f>
              <c:strCache>
                <c:ptCount val="8"/>
                <c:pt idx="0">
                  <c:v>不设</c:v>
                </c:pt>
                <c:pt idx="1">
                  <c:v>224</c:v>
                </c:pt>
                <c:pt idx="2">
                  <c:v>192</c:v>
                </c:pt>
                <c:pt idx="3">
                  <c:v>176</c:v>
                </c:pt>
                <c:pt idx="4">
                  <c:v>160</c:v>
                </c:pt>
                <c:pt idx="5">
                  <c:v>144</c:v>
                </c:pt>
                <c:pt idx="6">
                  <c:v>128</c:v>
                </c:pt>
                <c:pt idx="7">
                  <c:v>96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0.024</c:v>
                </c:pt>
                <c:pt idx="2">
                  <c:v>0.006</c:v>
                </c:pt>
                <c:pt idx="3">
                  <c:v>0.018</c:v>
                </c:pt>
                <c:pt idx="4">
                  <c:v>-0.061</c:v>
                </c:pt>
                <c:pt idx="5">
                  <c:v>-0.053</c:v>
                </c:pt>
                <c:pt idx="6">
                  <c:v>-0.057</c:v>
                </c:pt>
                <c:pt idx="7">
                  <c:v>0.104</c:v>
                </c:pt>
              </c:numCache>
            </c:numRef>
          </c:val>
        </c:ser>
        <c:dLbls>
          <c:numFmt formatCode="+0.0%;&quot;−&quot;0.0%;&quot;基线&quot;" sourceLinked="0"/>
          <c:txPr>
            <a:bodyPr/>
            <a:lstStyle/>
            <a:p>
              <a:pPr>
                <a:defRPr sz="1400" b="1">
                  <a:solidFill>
                    <a:srgbClr val="1F2937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3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12"/>
          <c:min val="-0.08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%;&quot;−&quot;0%;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-2068027336"/>
        <c:crosses val="autoZero"/>
        <c:majorUnit val="0.04"/>
      </c:valAx>
    </c:plotArea>
    <c:dispBlanksAs val="gap"/>
  </c:chart>
  <c:txPr>
    <a:bodyPr/>
    <a:lstStyle/>
    <a:p>
      <a:pPr>
        <a:defRPr sz="1300" b="0">
          <a:solidFill>
            <a:srgbClr val="1F2937"/>
          </a:solidFill>
          <a:latin typeface="Microsoft YaHei"/>
          <a:ea typeface="Microsoft YaHei"/>
          <a:cs typeface="Microsoft YaHe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64748B"/>
              </a:solidFill>
            </c:spPr>
          </c:dPt>
          <c:dPt>
            <c:idx val="1"/>
            <c:invertIfNegative val="0"/>
            <c:spPr>
              <a:solidFill>
                <a:srgbClr val="16A34A"/>
              </a:solidFill>
            </c:spPr>
          </c:dPt>
          <c:dPt>
            <c:idx val="2"/>
            <c:invertIfNegative val="0"/>
            <c:spPr>
              <a:solidFill>
                <a:srgbClr val="1E3A5F"/>
              </a:solidFill>
            </c:spPr>
          </c:dPt>
          <c:dPt>
            <c:idx val="3"/>
            <c:invertIfNegative val="0"/>
            <c:spPr>
              <a:solidFill>
                <a:srgbClr val="1E3A5F"/>
              </a:solidFill>
            </c:spPr>
          </c:dPt>
          <c:dPt>
            <c:idx val="4"/>
            <c:invertIfNegative val="0"/>
            <c:spPr>
              <a:solidFill>
                <a:srgbClr val="F97316"/>
              </a:solidFill>
            </c:spPr>
          </c:dPt>
          <c:cat>
            <c:strRef>
              <c:f>Sheet1!$A$2:$A$6</c:f>
              <c:strCache>
                <c:ptCount val="5"/>
                <c:pt idx="0">
                  <c:v>单卡</c:v>
                </c:pt>
                <c:pt idx="1">
                  <c:v>单卡 + LTO</c:v>
                </c:pt>
                <c:pt idx="2">
                  <c:v>2 卡 + rdma</c:v>
                </c:pt>
                <c:pt idx="3">
                  <c:v>2 卡 + rdma + 上限 160</c:v>
                </c:pt>
                <c:pt idx="4">
                  <c:v>2 卡 + rdma + LTO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1.3144418872266972</c:v>
                </c:pt>
                <c:pt idx="2">
                  <c:v>1.841596130592503</c:v>
                </c:pt>
                <c:pt idx="3">
                  <c:v>2.027962716378162</c:v>
                </c:pt>
                <c:pt idx="4">
                  <c:v>2.402208201892744</c:v>
                </c:pt>
              </c:numCache>
            </c:numRef>
          </c:val>
        </c:ser>
        <c:dLbls>
          <c:numFmt formatCode="0.00&quot;×&quot;" sourceLinked="0"/>
          <c:txPr>
            <a:bodyPr/>
            <a:lstStyle/>
            <a:p>
              <a:pPr>
                <a:defRPr sz="1400" b="1">
                  <a:solidFill>
                    <a:srgbClr val="1F2937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3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6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-2068027336"/>
        <c:crosses val="autoZero"/>
        <c:majorUnit val="0.5"/>
      </c:valAx>
    </c:plotArea>
    <c:dispBlanksAs val="gap"/>
  </c:chart>
  <c:txPr>
    <a:bodyPr/>
    <a:lstStyle/>
    <a:p>
      <a:pPr>
        <a:defRPr sz="1300" b="0">
          <a:solidFill>
            <a:srgbClr val="1F2937"/>
          </a:solidFill>
          <a:latin typeface="Microsoft YaHei"/>
          <a:ea typeface="Microsoft YaHei"/>
          <a:cs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6583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MFC · 3D_performance_test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7665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能对什么调优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67665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六个层级和实测结果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65836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sc26：2 × H100 NVL · NVHPC 25.9 · </a:t>
            </a:r>
            <a:r>
              <a:rPr sz="1600" b="0">
                <a:solidFill>
                  <a:srgbClr val="CBD5E1"/>
                </a:solidFill>
                <a:latin typeface="Consolas"/>
                <a:ea typeface="Microsoft YaHei"/>
                <a:cs typeface="Microsoft YaHei"/>
              </a:rPr>
              <a:t>--case-optimization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MFC 上游主线 3ef5e1ee · 2026-10-21、10-24 实测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6583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SCC26 MFC 组 · 2026 年 10 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17320"/>
            <a:ext cx="4114800" cy="37490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4114800" cy="12801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000" b="1">
                <a:solidFill>
                  <a:srgbClr val="F97316"/>
                </a:solidFill>
                <a:latin typeface="Microsoft YaHei"/>
                <a:ea typeface="Microsoft YaHei"/>
                <a:cs typeface="Microsoft YaHei"/>
              </a:rPr>
              <a:t>2.40×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154680"/>
            <a:ext cx="3749039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2 卡 + </a:t>
            </a:r>
            <a:r>
              <a:rPr sz="1800" b="1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链接时优化（LTO）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4206240"/>
            <a:ext cx="3749039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相对单卡基线 · 输出逐位一致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六层全貌：收益在第三层和第四层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全貌　2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078992"/>
            <a:ext cx="2743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078992"/>
            <a:ext cx="2743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能调什么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078992"/>
            <a:ext cx="2743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463040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工具链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463040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NVHPC 版本（25.9 / 26.9）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600200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没收益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463040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26.9 不更快，加了 LTO 也一样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121408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2139696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139696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MFC 构建开关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139696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case-optimization、GPU 后端、精度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2276856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有代价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139696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--single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快 23.5%，但动量误差约 2%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2798063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2816352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16352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编译器选项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2816352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Consolas"/>
                <a:ea typeface="Microsoft YaHei"/>
                <a:cs typeface="Microsoft YaHei"/>
              </a:rPr>
              <a:t>FFLAGS</a:t>
            </a: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：LTO、寄存器上限等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2953512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816352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LTO：四个官方算例快 20%–28%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474720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3493008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493008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算例里的性能参数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493008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Consolas"/>
                <a:ea typeface="Microsoft YaHei"/>
                <a:cs typeface="Microsoft YaHei"/>
              </a:rPr>
              <a:t>rdma_mpi</a:t>
            </a: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、写文件方式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3630168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有收益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3493008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：2 卡快 12.2%（规则待确认）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4151376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4169664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169664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启动方式和运行时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169664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rank 数、GPU 分配、绑核、MPS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0" y="4306824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没收益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69664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每卡 1 个 rank；MPS 多 rank 不更快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8640" y="4828032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640" y="4846320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846320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GPU 系统设置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4846320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时钟、功耗上限、持久模式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9440" y="4983480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改不了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846320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没有 root；功耗已在 400 W 上限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5504688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541264"/>
            <a:ext cx="111556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指标 grindtime：每个格点、每个方程、每次右端项计算的纳秒数，越小越快。单卡基线约 0.454；每项测 3 次取平均，和同一天的基线比，噪声约 1%。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两项收益可以叠加：LTO（单卡快 24%）+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（2 卡快 12%）；用了 LTO 就不要再加寄存器上限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第一层 工具链：NVHPC 26.9 没有更快，LTO 两个版本都有效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第一层　3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能调什么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7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NVHPC 25.9 或 26.9，都是队里自己装的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7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选了版本，CUDA 和 MPI 也就定了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7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GNU、Intel 编不了 GPU 版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7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机器、赛事和 MFC 都没有指定版本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实测 grindtime（10-24，每项 3 次平均）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783080"/>
          <a:ext cx="551383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960120"/>
                <a:gridCol w="1234440"/>
                <a:gridCol w="1993392"/>
              </a:tblGrid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单卡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单卡 + LTO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卡 + rdma + LTO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0.4535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0.3466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0.1857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0.4573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0.1881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26.9 比 25.9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+0.8%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+0.5%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+1.3%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4160520"/>
            <a:ext cx="5486400" cy="1463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两个版本的输出只差在舍入级；同一版本里 LTO 不改变输出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onsolas"/>
                <a:ea typeface="Microsoft YaHei"/>
                <a:cs typeface="Microsoft YaHei"/>
              </a:rPr>
              <a:t>-acc=nowait</a:t>
            </a: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在两个版本里都不减少同步（26.9 也是 14,771 次）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继续用 25.9 + LTO；换版本要重跑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./mfc.sh test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（上游记录过 NVHPC 24.5 把 GPU 代码编错）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第二层 构建开关：没有又快又不改结果的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第二层　4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383280"/>
                <a:gridCol w="1143000"/>
                <a:gridCol w="1508760"/>
                <a:gridCol w="2724912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开关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grindtime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变化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--case-optimization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把算例参数写成常量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−55%（mjx）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一直开着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--gpu mp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OpenMP offload 代替 OpenACC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0.4590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+1.2%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--fastmath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快速数学函数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0.4521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−0.3%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双精度编出的代码不变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--single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全程单精度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0.3470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−23.5%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动量误差约 2%，要问评委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--mixed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存储用半精度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编译失败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--unified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和 GPU 共用内存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只适用于 GH200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case-optimization 已经开着；唯一的大收益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--single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会改变计算结果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第三层 编译器选项：链接时优化（LTO）快 24%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第三层　5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280160"/>
            <a:ext cx="57607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实测（10-24，每项 3 次平均）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2103120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单卡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卡 + </a:t>
                      </a:r>
                      <a:r>
                        <a:rPr sz="1600" b="1">
                          <a:solidFill>
                            <a:srgbClr val="FFFFFF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rdma_mpi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 grindtime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0.4569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0.2481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寄存器上限 160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−6.5%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−9.2%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LTO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−23.9%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−23.3%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LTO + 上限 160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−16.9%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−16.5%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5852160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对照：只加 </a:t>
            </a:r>
            <a:r>
              <a:rPr sz="1300" b="0">
                <a:solidFill>
                  <a:srgbClr val="64748B"/>
                </a:solidFill>
                <a:latin typeface="Consolas"/>
                <a:ea typeface="Microsoft YaHei"/>
                <a:cs typeface="Microsoft YaHei"/>
              </a:rPr>
              <a:t>-gpu=cuda13.0</a:t>
            </a: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、不开 LTO，生成的 GPU 代码和基线逐条相同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叠加变慢：上限管不到 LTO 在链接时生成的代码；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WENO 反而用到 174–178 个寄存器，退回每个 SM 2 个线程块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280160"/>
            <a:ext cx="49377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LTO 做了什么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783080"/>
            <a:ext cx="4983480" cy="4023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平时每个文件单独编成 GPU 机器码，链接时只是拼起来；LTO 在链接时把所有文件合在一起重新优化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WENO（占 32% 时间）：寄存器约 190 → 160，每个 SM 的线程块 2 → 3，快约 28%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HLLC：寄存器差不多，但代码更高效，快约 40%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输出逐位一致；构建日志里的寄存器数是链接前的，看不出变化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FFLAGS=-gpu=lto,cuda13.0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（单写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-gpu=lto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过不了 CMake 的编译器检查）；用了 LTO 就不要再加寄存器上限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第三层（续）LTO 在四个官方算例上都最快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第三层　6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737360"/>
                <a:gridCol w="1463040"/>
                <a:gridCol w="1920240"/>
                <a:gridCol w="3108960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算例（单卡）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寄存器上限 160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只开 LTO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 LTO + 上限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3D_performance_test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−6.7%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−24.0%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−19.3%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逐位一致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3D_sphbubcollapse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−6.1%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−20.3%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−13.7%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逐位一致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3D_IGR_TaylorGreenVortex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−3.8%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−28.4%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−12.0%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在基线自身波动内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3D_TaylorGreenVortex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−5.8%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−20.3%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−11.8%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逐位一致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43400"/>
            <a:ext cx="11155680" cy="1463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每项 3 次平均，和同一算例、同一时段的基线比；后三个算例用缩短的官方算例副本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部分 LTO：只让 </a:t>
            </a: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m_weno</a:t>
            </a: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不走 LTO、加寄存器上限 160（用编译器包装脚本实现），其他文件照常 LTO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IGR 的基线每次运行结果都不同（相对差约 10</a:t>
            </a:r>
            <a:r>
              <a:rPr sz="1400" b="0" baseline="3000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−12</a:t>
            </a: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）；各版本和基线的差别都在这个范围内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只开 LTO 在四个官方算例上都最快（快 20%–28%）；全局上限和部分 LTO + 上限都更慢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第三层（续）寄存器上限和其他选项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第三层　7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43000"/>
            <a:ext cx="68580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每个线程的寄存器上限：grindtime 相对基线的变化（负数为更快）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463040"/>
          <a:ext cx="704088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12080"/>
            <a:ext cx="685800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只有 160、144、128 让每个 SM 多驻留一个线程块，所以只有它们变快；上限 64 慢 49.9%（溢出太多）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43000"/>
            <a:ext cx="4050791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其他选项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600200"/>
          <a:ext cx="4050792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39112"/>
              </a:tblGrid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选项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loadcache:L1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+1.2%，噪声边缘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loadcache:L2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慢 128%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fastmath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flushz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nounroll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编出的代码不变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pinned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pre_process 卡住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-acc=nowait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没效果：同步次数不变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-O2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要改 CMake，待测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cuda12.9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待测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寄存器上限 160 单独用快 6.1%、输出逐位一致，另两个官方算例快 6.3% 和 3.4%；和 LTO 叠加反而变慢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第四层 算例参数：rdma_mpi 让 2 卡快 12.2%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第四层　8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94360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25880"/>
                <a:gridCol w="1097280"/>
                <a:gridCol w="1143000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grindtime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加速比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并行效率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单卡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0.4535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0.2765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1.64×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卡 + </a:t>
                      </a: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rdma_mpi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0.2429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1.87×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93%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49039"/>
            <a:ext cx="594360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grindtime 按全部格点计算，卡数翻倍时理想值减半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325880"/>
            <a:ext cx="4983480" cy="4480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5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做法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：算例文件加一行 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"rdma_mpi": "T"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，不用重编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5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原理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：显存地址直接交给 MPI；UCX 用 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cuda_ipc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，两张卡经 NVLink 直接拷贝（已确认）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5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不是网络 RDMA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：单机是 GPU 点对点，跨机才走网卡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5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效果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：每次通信 5.34 ms 降到 0.78 ms（mjx）；输出和单卡逐位一致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5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其他字段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parallel_io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file_per_process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t_step_save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只影响写文件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待确认：比赛是否允许修改算例文件里只影响性能的字段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第五层 启动方式：每卡 1 个 rank，MPS 也不更快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第五层　9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9167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1554480"/>
                <a:gridCol w="3502152"/>
              </a:tblGrid>
              <a:tr h="50292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写法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grindtime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0292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-n 1 -g 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个 rank 用 1 张卡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0.4538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单卡基线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-n 2 -g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个 rank 共用 1 张卡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0.8421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慢 86%（分时切换）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-n 2 -g 1</a:t>
                      </a: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+ MPS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同上，开 MPS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0.4852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慢 6.9%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-n 2 -g 0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每张卡 1 个 rank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多卡用这个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-n 4 -g 0 1</a:t>
                      </a: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+ MPS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每张卡 2 个 rank，开 MPS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0.2876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+1.2%，在噪声内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480560"/>
            <a:ext cx="11155680" cy="1463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两张 GPU 都挂在 NUMA 0 上，每个 rank 绑一个 NUMA 0 的核；不绑核 +0.4%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Open MPI 4.1 写作 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--cpu-list 1,3 --bind-to cpu-list:ordered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MPS 不需要 root：用私有管道目录启动、跑完就关，不影响别人；开 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时也只是持平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MPS 救回了共用一张卡的大部分损失，但不比每卡 1 个 rank 快；这些写法都不改变输出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第六层 GPU 系统设置：没有 root，只能记录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第六层　10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9167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690872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现状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能改吗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功耗上限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400 W，已是允许的最大值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不能再调高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GPU 时钟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没有锁定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锁频需要 root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持久模式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关闭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 root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43400"/>
            <a:ext cx="1115568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满载时功耗中位数 397 W（26 次采样里 18 次封顶），SM 时钟中位数 1770 MHz：GPU 基本顶在功耗上限上（mjx 采样）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每次运行前后记录 GPU 的时钟、温度和功耗，用来排查异常结果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叠加起来：2 卡 2.40 倍，输出逐位一致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总结　11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43000"/>
            <a:ext cx="65836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相对单卡基线的加速比（10-24，每项 3 次平均）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463040"/>
          <a:ext cx="681228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543800" y="1188720"/>
            <a:ext cx="73152" cy="1371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170432"/>
            <a:ext cx="402336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推荐设置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572768"/>
            <a:ext cx="40233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FFLAGS=-gpu=lto,cuda13.0</a:t>
            </a: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，不加寄存器上限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每卡 1 个 rank，绑 NUMA 0 的核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（如果允许）</a:t>
            </a: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 = 'T'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2761488"/>
            <a:ext cx="73152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743200"/>
            <a:ext cx="402336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待测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145536"/>
            <a:ext cx="40233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带 LTO 跑一遍 </a:t>
            </a: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./mfc.sh test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其他算例上的 2 卡 + </a:t>
            </a: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-O3</a:t>
            </a: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换成 </a:t>
            </a: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-O2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4334256"/>
            <a:ext cx="73152" cy="13716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4315968"/>
            <a:ext cx="402336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待讨论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4718304"/>
            <a:ext cx="40233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LTO 当默认构建选项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能不能改算例里的性能字段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--single</a:t>
            </a: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的精度能不能接受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LTO 在四个官方算例上都快 20%–28%；正式采用前，还要带着它跑一遍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./mfc.sh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3D_performance_test 能对什么调优：六个层级和实测结果</dc:title>
  <dc:subject/>
  <dc:creator>SCC26 MFC 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